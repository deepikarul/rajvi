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Rajvi, and this is my Project 1 homepage for CS5610.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site brings together two themes that don't usually show up side by side on a portfolio — a technical, data-driven background, and a competitive athletic one. The homepage introduces both, the projects page goes deeper into the actual work, and a third page explores what AI-generated content looks like when it's built to match an existing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is built entirely with vanilla HTML, CSS, and ES6 JavaScript — no frameworks, no component libraries. Layout is handled with flexbox, JavaScript is loaded as ES6 modules, and the whole project is linted and formatted using the class's ESLint and Prettier configuration, then deployed on GitHub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pages. The homepage covers a quick introduction and skills. The projects page goes into two ML projects — a basketball performance prediction model and a computer vision–based shot analyzer — plus a full work experience timeline. The third page is entirely AI-generated, built to test how closely generated content can match an existing site's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creative addition is an interactive shot chart — an SVG basketball half-court where clicking anywhere simulates taking a shot. It's not random: the distance from each click to the hoop is calculated using the distance formula, and that distance sets the odds of a make, with shots closer to the basket more likely to go in — mirroring real shooting percentages by zone. A live stats bar tracks shots, makes, and field goal percentage. I'll demo this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technical problem was the coordinate math behind the shot chart. The court's internal coordinate system is fixed, but the browser renders the SVG at different sizes depending on screen width. So every click has to be converted from its actual screen position into that internal coordinate space before the distance-to-hoop calculation is even possible. Getting that scaling factor right took real trial and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was used throughout the project — for guidance on the hand-built pages, and to fully generate the third page, following a plan-first, iterative process. Full details are documented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watching — now let's look at the site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848"/>
        </a:solidFill>
      </p:bgPr>
    </p:bg>
    <p:spTree>
      <p:nvGrpSpPr>
        <p:cNvPr id="1" name=""/>
        <p:cNvGrpSpPr/>
        <p:nvPr/>
      </p:nvGrpSpPr>
      <p:grpSpPr>
        <a:xfrm>
          <a:off x="0" y="0"/>
          <a:ext cx="0" cy="0"/>
          <a:chOff x="0" y="0"/>
          <a:chExt cx="0" cy="0"/>
        </a:xfrm>
      </p:grpSpPr>
      <p:sp>
        <p:nvSpPr>
          <p:cNvPr id="2" name="Shape 0"/>
          <p:cNvSpPr/>
          <p:nvPr/>
        </p:nvSpPr>
        <p:spPr>
          <a:xfrm>
            <a:off x="9875520" y="-1097280"/>
            <a:ext cx="4114800" cy="4114800"/>
          </a:xfrm>
          <a:prstGeom prst="ellipse">
            <a:avLst/>
          </a:prstGeom>
          <a:solidFill>
            <a:srgbClr val="24365C"/>
          </a:solidFill>
          <a:ln/>
        </p:spPr>
      </p:sp>
      <p:pic>
        <p:nvPicPr>
          <p:cNvPr id="3" name="Image 0" descr="preencoded.png">    </p:cNvPr>
          <p:cNvPicPr>
            <a:picLocks noChangeAspect="1"/>
          </p:cNvPicPr>
          <p:nvPr/>
        </p:nvPicPr>
        <p:blipFill>
          <a:blip r:embed="rId1"/>
          <a:stretch>
            <a:fillRect/>
          </a:stretch>
        </p:blipFill>
        <p:spPr>
          <a:xfrm>
            <a:off x="11475720" y="502920"/>
            <a:ext cx="914400" cy="914400"/>
          </a:xfrm>
          <a:prstGeom prst="rect">
            <a:avLst/>
          </a:prstGeom>
        </p:spPr>
      </p:pic>
      <p:sp>
        <p:nvSpPr>
          <p:cNvPr id="4" name="Text 1"/>
          <p:cNvSpPr txBox="1"/>
          <p:nvPr/>
        </p:nvSpPr>
        <p:spPr>
          <a:xfrm>
            <a:off x="640080" y="2286000"/>
            <a:ext cx="91440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Rajvi Desai</a:t>
            </a:r>
            <a:endParaRPr lang="en-US" sz="4400" dirty="0"/>
          </a:p>
        </p:txBody>
      </p:sp>
      <p:sp>
        <p:nvSpPr>
          <p:cNvPr id="5" name="Text 2"/>
          <p:cNvSpPr txBox="1"/>
          <p:nvPr/>
        </p:nvSpPr>
        <p:spPr>
          <a:xfrm>
            <a:off x="640080" y="3246120"/>
            <a:ext cx="91440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Personal Homepage — Project 1</a:t>
            </a:r>
            <a:endParaRPr lang="en-US" sz="2000" dirty="0"/>
          </a:p>
        </p:txBody>
      </p:sp>
      <p:sp>
        <p:nvSpPr>
          <p:cNvPr id="6" name="Text 3"/>
          <p:cNvSpPr txBox="1"/>
          <p:nvPr/>
        </p:nvSpPr>
        <p:spPr>
          <a:xfrm>
            <a:off x="640080" y="3840480"/>
            <a:ext cx="9144000"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CS5610 Web Development · Fall 2026 · Northeastern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ctr"/>
          <a:lstStyle/>
          <a:p>
            <a:pPr indent="0" marL="0">
              <a:buNone/>
            </a:pPr>
            <a:r>
              <a:rPr lang="en-US" sz="3200" b="1" dirty="0">
                <a:solidFill>
                  <a:srgbClr val="182848"/>
                </a:solidFill>
                <a:latin typeface="Cambria" pitchFamily="34" charset="0"/>
                <a:ea typeface="Cambria" pitchFamily="34" charset="-122"/>
                <a:cs typeface="Cambria" pitchFamily="34" charset="-120"/>
              </a:rPr>
              <a:t>What this site is</a:t>
            </a:r>
            <a:endParaRPr lang="en-US" sz="3200" dirty="0"/>
          </a:p>
        </p:txBody>
      </p:sp>
      <p:sp>
        <p:nvSpPr>
          <p:cNvPr id="3" name="Shape 1"/>
          <p:cNvSpPr/>
          <p:nvPr/>
        </p:nvSpPr>
        <p:spPr>
          <a:xfrm>
            <a:off x="640080" y="1645920"/>
            <a:ext cx="502920" cy="502920"/>
          </a:xfrm>
          <a:prstGeom prst="ellipse">
            <a:avLst/>
          </a:prstGeom>
          <a:solidFill>
            <a:srgbClr val="FFFFFF"/>
          </a:solidFill>
          <a:ln w="19050">
            <a:solidFill>
              <a:srgbClr val="D35400"/>
            </a:solidFill>
            <a:prstDash val="solid"/>
          </a:ln>
        </p:spPr>
      </p:sp>
      <p:pic>
        <p:nvPicPr>
          <p:cNvPr id="4" name="Image 0" descr="preencoded.png">    </p:cNvPr>
          <p:cNvPicPr>
            <a:picLocks noChangeAspect="1"/>
          </p:cNvPicPr>
          <p:nvPr/>
        </p:nvPicPr>
        <p:blipFill>
          <a:blip r:embed="rId1"/>
          <a:stretch>
            <a:fillRect/>
          </a:stretch>
        </p:blipFill>
        <p:spPr>
          <a:xfrm>
            <a:off x="777240" y="1783080"/>
            <a:ext cx="228600" cy="228600"/>
          </a:xfrm>
          <a:prstGeom prst="rect">
            <a:avLst/>
          </a:prstGeom>
        </p:spPr>
      </p:pic>
      <p:sp>
        <p:nvSpPr>
          <p:cNvPr id="5" name="Text 2"/>
          <p:cNvSpPr txBox="1"/>
          <p:nvPr/>
        </p:nvSpPr>
        <p:spPr>
          <a:xfrm>
            <a:off x="1371600" y="1554480"/>
            <a:ext cx="6035040" cy="868680"/>
          </a:xfrm>
          <a:prstGeom prst="rect">
            <a:avLst/>
          </a:prstGeom>
          <a:noFill/>
          <a:ln/>
        </p:spPr>
        <p:txBody>
          <a:bodyPr wrap="square" lIns="0" tIns="0" rIns="0" bIns="0" rtlCol="0" anchor="ctr"/>
          <a:lstStyle/>
          <a:p>
            <a:pPr indent="0" marL="0">
              <a:lnSpc>
                <a:spcPts val="1900"/>
              </a:lnSpc>
              <a:buNone/>
            </a:pPr>
            <a:r>
              <a:rPr lang="en-US" sz="1500" dirty="0">
                <a:solidFill>
                  <a:srgbClr val="222222"/>
                </a:solidFill>
                <a:latin typeface="Calibri" pitchFamily="34" charset="0"/>
                <a:ea typeface="Calibri" pitchFamily="34" charset="-122"/>
                <a:cs typeface="Calibri" pitchFamily="34" charset="-120"/>
              </a:rPr>
              <a:t>Brings together a technical, data-driven background and a</a:t>
            </a:r>
            <a:endParaRPr lang="en-US" sz="1500" dirty="0"/>
          </a:p>
          <a:p>
            <a:pPr indent="0" marL="0">
              <a:lnSpc>
                <a:spcPts val="1900"/>
              </a:lnSpc>
              <a:buNone/>
            </a:pPr>
            <a:r>
              <a:rPr lang="en-US" sz="1500" dirty="0">
                <a:solidFill>
                  <a:srgbClr val="222222"/>
                </a:solidFill>
                <a:latin typeface="Calibri" pitchFamily="34" charset="0"/>
                <a:ea typeface="Calibri" pitchFamily="34" charset="-122"/>
                <a:cs typeface="Calibri" pitchFamily="34" charset="-120"/>
              </a:rPr>
              <a:t>competitive athletic background</a:t>
            </a:r>
            <a:endParaRPr lang="en-US" sz="1500" dirty="0"/>
          </a:p>
        </p:txBody>
      </p:sp>
      <p:sp>
        <p:nvSpPr>
          <p:cNvPr id="6" name="Shape 3"/>
          <p:cNvSpPr/>
          <p:nvPr/>
        </p:nvSpPr>
        <p:spPr>
          <a:xfrm>
            <a:off x="640080" y="2788920"/>
            <a:ext cx="502920" cy="502920"/>
          </a:xfrm>
          <a:prstGeom prst="ellipse">
            <a:avLst/>
          </a:prstGeom>
          <a:solidFill>
            <a:srgbClr val="FFFFFF"/>
          </a:solidFill>
          <a:ln w="19050">
            <a:solidFill>
              <a:srgbClr val="D35400"/>
            </a:solidFill>
            <a:prstDash val="solid"/>
          </a:ln>
        </p:spPr>
      </p:sp>
      <p:pic>
        <p:nvPicPr>
          <p:cNvPr id="7" name="Image 1" descr="preencoded.png">    </p:cNvPr>
          <p:cNvPicPr>
            <a:picLocks noChangeAspect="1"/>
          </p:cNvPicPr>
          <p:nvPr/>
        </p:nvPicPr>
        <p:blipFill>
          <a:blip r:embed="rId2"/>
          <a:stretch>
            <a:fillRect/>
          </a:stretch>
        </p:blipFill>
        <p:spPr>
          <a:xfrm>
            <a:off x="777240" y="2926080"/>
            <a:ext cx="228600" cy="228600"/>
          </a:xfrm>
          <a:prstGeom prst="rect">
            <a:avLst/>
          </a:prstGeom>
        </p:spPr>
      </p:pic>
      <p:sp>
        <p:nvSpPr>
          <p:cNvPr id="8" name="Text 4"/>
          <p:cNvSpPr txBox="1"/>
          <p:nvPr/>
        </p:nvSpPr>
        <p:spPr>
          <a:xfrm>
            <a:off x="1371600" y="2697480"/>
            <a:ext cx="6035040" cy="868680"/>
          </a:xfrm>
          <a:prstGeom prst="rect">
            <a:avLst/>
          </a:prstGeom>
          <a:noFill/>
          <a:ln/>
        </p:spPr>
        <p:txBody>
          <a:bodyPr wrap="square" lIns="0" tIns="0" rIns="0" bIns="0" rtlCol="0" anchor="ctr"/>
          <a:lstStyle/>
          <a:p>
            <a:pPr indent="0" marL="0">
              <a:lnSpc>
                <a:spcPts val="1900"/>
              </a:lnSpc>
              <a:buNone/>
            </a:pPr>
            <a:r>
              <a:rPr lang="en-US" sz="1500" dirty="0">
                <a:solidFill>
                  <a:srgbClr val="222222"/>
                </a:solidFill>
                <a:latin typeface="Calibri" pitchFamily="34" charset="0"/>
                <a:ea typeface="Calibri" pitchFamily="34" charset="-122"/>
                <a:cs typeface="Calibri" pitchFamily="34" charset="-120"/>
              </a:rPr>
              <a:t>Homepage introduces both themes; the projects page goes</a:t>
            </a:r>
            <a:endParaRPr lang="en-US" sz="1500" dirty="0"/>
          </a:p>
          <a:p>
            <a:pPr indent="0" marL="0">
              <a:lnSpc>
                <a:spcPts val="1900"/>
              </a:lnSpc>
              <a:buNone/>
            </a:pPr>
            <a:r>
              <a:rPr lang="en-US" sz="1500" dirty="0">
                <a:solidFill>
                  <a:srgbClr val="222222"/>
                </a:solidFill>
                <a:latin typeface="Calibri" pitchFamily="34" charset="0"/>
                <a:ea typeface="Calibri" pitchFamily="34" charset="-122"/>
                <a:cs typeface="Calibri" pitchFamily="34" charset="-120"/>
              </a:rPr>
              <a:t>deeper into the actual work</a:t>
            </a:r>
            <a:endParaRPr lang="en-US" sz="1500" dirty="0"/>
          </a:p>
        </p:txBody>
      </p:sp>
      <p:sp>
        <p:nvSpPr>
          <p:cNvPr id="9" name="Shape 5"/>
          <p:cNvSpPr/>
          <p:nvPr/>
        </p:nvSpPr>
        <p:spPr>
          <a:xfrm>
            <a:off x="640080" y="3931920"/>
            <a:ext cx="502920" cy="502920"/>
          </a:xfrm>
          <a:prstGeom prst="ellipse">
            <a:avLst/>
          </a:prstGeom>
          <a:solidFill>
            <a:srgbClr val="FFFFFF"/>
          </a:solidFill>
          <a:ln w="19050">
            <a:solidFill>
              <a:srgbClr val="D35400"/>
            </a:solidFill>
            <a:prstDash val="solid"/>
          </a:ln>
        </p:spPr>
      </p:sp>
      <p:pic>
        <p:nvPicPr>
          <p:cNvPr id="10" name="Image 2" descr="preencoded.png">    </p:cNvPr>
          <p:cNvPicPr>
            <a:picLocks noChangeAspect="1"/>
          </p:cNvPicPr>
          <p:nvPr/>
        </p:nvPicPr>
        <p:blipFill>
          <a:blip r:embed="rId3"/>
          <a:stretch>
            <a:fillRect/>
          </a:stretch>
        </p:blipFill>
        <p:spPr>
          <a:xfrm>
            <a:off x="777240" y="4069080"/>
            <a:ext cx="228600" cy="228600"/>
          </a:xfrm>
          <a:prstGeom prst="rect">
            <a:avLst/>
          </a:prstGeom>
        </p:spPr>
      </p:pic>
      <p:sp>
        <p:nvSpPr>
          <p:cNvPr id="11" name="Text 6"/>
          <p:cNvSpPr txBox="1"/>
          <p:nvPr/>
        </p:nvSpPr>
        <p:spPr>
          <a:xfrm>
            <a:off x="1371600" y="3840480"/>
            <a:ext cx="6035040" cy="868680"/>
          </a:xfrm>
          <a:prstGeom prst="rect">
            <a:avLst/>
          </a:prstGeom>
          <a:noFill/>
          <a:ln/>
        </p:spPr>
        <p:txBody>
          <a:bodyPr wrap="square" lIns="0" tIns="0" rIns="0" bIns="0" rtlCol="0" anchor="ctr"/>
          <a:lstStyle/>
          <a:p>
            <a:pPr indent="0" marL="0">
              <a:lnSpc>
                <a:spcPts val="1900"/>
              </a:lnSpc>
              <a:buNone/>
            </a:pPr>
            <a:r>
              <a:rPr lang="en-US" sz="1500" dirty="0">
                <a:solidFill>
                  <a:srgbClr val="222222"/>
                </a:solidFill>
                <a:latin typeface="Calibri" pitchFamily="34" charset="0"/>
                <a:ea typeface="Calibri" pitchFamily="34" charset="-122"/>
                <a:cs typeface="Calibri" pitchFamily="34" charset="-120"/>
              </a:rPr>
              <a:t>A third page tests AI-generated content built to match an</a:t>
            </a:r>
            <a:endParaRPr lang="en-US" sz="1500" dirty="0"/>
          </a:p>
          <a:p>
            <a:pPr indent="0" marL="0">
              <a:lnSpc>
                <a:spcPts val="1900"/>
              </a:lnSpc>
              <a:buNone/>
            </a:pPr>
            <a:r>
              <a:rPr lang="en-US" sz="1500" dirty="0">
                <a:solidFill>
                  <a:srgbClr val="222222"/>
                </a:solidFill>
                <a:latin typeface="Calibri" pitchFamily="34" charset="0"/>
                <a:ea typeface="Calibri" pitchFamily="34" charset="-122"/>
                <a:cs typeface="Calibri" pitchFamily="34" charset="-120"/>
              </a:rPr>
              <a:t>existing site's style</a:t>
            </a:r>
            <a:endParaRPr lang="en-US" sz="1500" dirty="0"/>
          </a:p>
        </p:txBody>
      </p:sp>
      <p:sp>
        <p:nvSpPr>
          <p:cNvPr id="12" name="Shape 7"/>
          <p:cNvSpPr/>
          <p:nvPr/>
        </p:nvSpPr>
        <p:spPr>
          <a:xfrm>
            <a:off x="7772400" y="1463040"/>
            <a:ext cx="3840480" cy="3931920"/>
          </a:xfrm>
          <a:prstGeom prst="roundRect">
            <a:avLst>
              <a:gd name="adj" fmla="val 3571"/>
            </a:avLst>
          </a:prstGeom>
          <a:solidFill>
            <a:srgbClr val="182848"/>
          </a:solidFill>
          <a:ln/>
          <a:effectLst>
            <a:outerShdw sx="100000" sy="100000" kx="0" ky="0" algn="bl" rotWithShape="0" blurRad="76200" dist="38100" dir="5400000">
              <a:srgbClr val="000000">
                <a:alpha val="25000"/>
              </a:srgbClr>
            </a:outerShdw>
          </a:effectLst>
        </p:spPr>
      </p:sp>
      <p:pic>
        <p:nvPicPr>
          <p:cNvPr id="13" name="Image 3" descr="preencoded.png">    </p:cNvPr>
          <p:cNvPicPr>
            <a:picLocks noChangeAspect="1"/>
          </p:cNvPicPr>
          <p:nvPr/>
        </p:nvPicPr>
        <p:blipFill>
          <a:blip r:embed="rId4"/>
          <a:stretch>
            <a:fillRect/>
          </a:stretch>
        </p:blipFill>
        <p:spPr>
          <a:xfrm>
            <a:off x="8869680" y="1920240"/>
            <a:ext cx="914400" cy="914400"/>
          </a:xfrm>
          <a:prstGeom prst="rect">
            <a:avLst/>
          </a:prstGeom>
        </p:spPr>
      </p:pic>
      <p:sp>
        <p:nvSpPr>
          <p:cNvPr id="14" name="Text 8"/>
          <p:cNvSpPr txBox="1"/>
          <p:nvPr/>
        </p:nvSpPr>
        <p:spPr>
          <a:xfrm>
            <a:off x="7955280" y="2880360"/>
            <a:ext cx="34747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Machine Learning</a:t>
            </a:r>
            <a:endParaRPr lang="en-US" sz="1400" dirty="0"/>
          </a:p>
        </p:txBody>
      </p:sp>
      <p:sp>
        <p:nvSpPr>
          <p:cNvPr id="15" name="Text 9"/>
          <p:cNvSpPr txBox="1"/>
          <p:nvPr/>
        </p:nvSpPr>
        <p:spPr>
          <a:xfrm>
            <a:off x="7955280" y="3246120"/>
            <a:ext cx="3474720" cy="457200"/>
          </a:xfrm>
          <a:prstGeom prst="rect">
            <a:avLst/>
          </a:prstGeom>
          <a:noFill/>
          <a:ln/>
        </p:spPr>
        <p:txBody>
          <a:bodyPr wrap="square" lIns="0" tIns="0" rIns="0" bIns="0" rtlCol="0" anchor="ctr"/>
          <a:lstStyle/>
          <a:p>
            <a:pPr algn="ctr" indent="0" marL="0">
              <a:buNone/>
            </a:pPr>
            <a:r>
              <a:rPr lang="en-US" sz="2400" dirty="0">
                <a:solidFill>
                  <a:srgbClr val="D35400"/>
                </a:solidFill>
                <a:latin typeface="Cambria" pitchFamily="34" charset="0"/>
                <a:ea typeface="Cambria" pitchFamily="34" charset="-122"/>
                <a:cs typeface="Cambria" pitchFamily="34" charset="-120"/>
              </a:rPr>
              <a:t>+</a:t>
            </a:r>
            <a:endParaRPr lang="en-US" sz="2400" dirty="0"/>
          </a:p>
        </p:txBody>
      </p:sp>
      <p:pic>
        <p:nvPicPr>
          <p:cNvPr id="16" name="Image 4" descr="preencoded.png">    </p:cNvPr>
          <p:cNvPicPr>
            <a:picLocks noChangeAspect="1"/>
          </p:cNvPicPr>
          <p:nvPr/>
        </p:nvPicPr>
        <p:blipFill>
          <a:blip r:embed="rId5"/>
          <a:stretch>
            <a:fillRect/>
          </a:stretch>
        </p:blipFill>
        <p:spPr>
          <a:xfrm>
            <a:off x="8869680" y="3840480"/>
            <a:ext cx="914400" cy="914400"/>
          </a:xfrm>
          <a:prstGeom prst="rect">
            <a:avLst/>
          </a:prstGeom>
        </p:spPr>
      </p:pic>
      <p:sp>
        <p:nvSpPr>
          <p:cNvPr id="17" name="Text 10"/>
          <p:cNvSpPr txBox="1"/>
          <p:nvPr/>
        </p:nvSpPr>
        <p:spPr>
          <a:xfrm>
            <a:off x="7955280" y="4800600"/>
            <a:ext cx="34747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Basketball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ctr"/>
          <a:lstStyle/>
          <a:p>
            <a:pPr indent="0" marL="0">
              <a:buNone/>
            </a:pPr>
            <a:r>
              <a:rPr lang="en-US" sz="3200" b="1" dirty="0">
                <a:solidFill>
                  <a:srgbClr val="182848"/>
                </a:solidFill>
                <a:latin typeface="Cambria" pitchFamily="34" charset="0"/>
                <a:ea typeface="Cambria" pitchFamily="34" charset="-122"/>
                <a:cs typeface="Cambria" pitchFamily="34" charset="-120"/>
              </a:rPr>
              <a:t>Technologies used</a:t>
            </a:r>
            <a:endParaRPr lang="en-US" sz="3200" dirty="0"/>
          </a:p>
        </p:txBody>
      </p:sp>
      <p:sp>
        <p:nvSpPr>
          <p:cNvPr id="3" name="Shape 1"/>
          <p:cNvSpPr/>
          <p:nvPr/>
        </p:nvSpPr>
        <p:spPr>
          <a:xfrm>
            <a:off x="640080" y="1737360"/>
            <a:ext cx="10881360" cy="822960"/>
          </a:xfrm>
          <a:prstGeom prst="roundRect">
            <a:avLst>
              <a:gd name="adj" fmla="val 11111"/>
            </a:avLst>
          </a:prstGeom>
          <a:solidFill>
            <a:srgbClr val="FFFFFF"/>
          </a:solidFill>
          <a:ln w="12700">
            <a:solidFill>
              <a:srgbClr val="E4E0D4"/>
            </a:solidFill>
            <a:prstDash val="solid"/>
          </a:ln>
        </p:spPr>
      </p:sp>
      <p:sp>
        <p:nvSpPr>
          <p:cNvPr id="4" name="Shape 2"/>
          <p:cNvSpPr/>
          <p:nvPr/>
        </p:nvSpPr>
        <p:spPr>
          <a:xfrm>
            <a:off x="914400" y="1920240"/>
            <a:ext cx="457200" cy="457200"/>
          </a:xfrm>
          <a:prstGeom prst="ellipse">
            <a:avLst/>
          </a:prstGeom>
          <a:solidFill>
            <a:srgbClr val="F7F6F3"/>
          </a:solidFill>
          <a:ln/>
        </p:spPr>
      </p:sp>
      <p:pic>
        <p:nvPicPr>
          <p:cNvPr id="5" name="Image 0" descr="preencoded.png">    </p:cNvPr>
          <p:cNvPicPr>
            <a:picLocks noChangeAspect="1"/>
          </p:cNvPicPr>
          <p:nvPr/>
        </p:nvPicPr>
        <p:blipFill>
          <a:blip r:embed="rId1"/>
          <a:stretch>
            <a:fillRect/>
          </a:stretch>
        </p:blipFill>
        <p:spPr>
          <a:xfrm>
            <a:off x="1033272" y="2039112"/>
            <a:ext cx="219456" cy="219456"/>
          </a:xfrm>
          <a:prstGeom prst="rect">
            <a:avLst/>
          </a:prstGeom>
        </p:spPr>
      </p:pic>
      <p:sp>
        <p:nvSpPr>
          <p:cNvPr id="6" name="Text 3"/>
          <p:cNvSpPr txBox="1"/>
          <p:nvPr/>
        </p:nvSpPr>
        <p:spPr>
          <a:xfrm>
            <a:off x="1645920" y="1737360"/>
            <a:ext cx="9601200" cy="8229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Vanilla HTML5, CSS3 (flexbox), ES6+ JavaScript modules</a:t>
            </a:r>
            <a:endParaRPr lang="en-US" sz="1600" dirty="0"/>
          </a:p>
        </p:txBody>
      </p:sp>
      <p:sp>
        <p:nvSpPr>
          <p:cNvPr id="7" name="Shape 4"/>
          <p:cNvSpPr/>
          <p:nvPr/>
        </p:nvSpPr>
        <p:spPr>
          <a:xfrm>
            <a:off x="640080" y="2788920"/>
            <a:ext cx="10881360" cy="822960"/>
          </a:xfrm>
          <a:prstGeom prst="roundRect">
            <a:avLst>
              <a:gd name="adj" fmla="val 11111"/>
            </a:avLst>
          </a:prstGeom>
          <a:solidFill>
            <a:srgbClr val="FFFFFF"/>
          </a:solidFill>
          <a:ln w="12700">
            <a:solidFill>
              <a:srgbClr val="E4E0D4"/>
            </a:solidFill>
            <a:prstDash val="solid"/>
          </a:ln>
        </p:spPr>
      </p:sp>
      <p:sp>
        <p:nvSpPr>
          <p:cNvPr id="8" name="Shape 5"/>
          <p:cNvSpPr/>
          <p:nvPr/>
        </p:nvSpPr>
        <p:spPr>
          <a:xfrm>
            <a:off x="914400" y="2971800"/>
            <a:ext cx="457200" cy="457200"/>
          </a:xfrm>
          <a:prstGeom prst="ellipse">
            <a:avLst/>
          </a:prstGeom>
          <a:solidFill>
            <a:srgbClr val="F7F6F3"/>
          </a:solidFill>
          <a:ln/>
        </p:spPr>
      </p:sp>
      <p:pic>
        <p:nvPicPr>
          <p:cNvPr id="9" name="Image 1" descr="preencoded.png">    </p:cNvPr>
          <p:cNvPicPr>
            <a:picLocks noChangeAspect="1"/>
          </p:cNvPicPr>
          <p:nvPr/>
        </p:nvPicPr>
        <p:blipFill>
          <a:blip r:embed="rId2"/>
          <a:stretch>
            <a:fillRect/>
          </a:stretch>
        </p:blipFill>
        <p:spPr>
          <a:xfrm>
            <a:off x="1033272" y="3090672"/>
            <a:ext cx="219456" cy="219456"/>
          </a:xfrm>
          <a:prstGeom prst="rect">
            <a:avLst/>
          </a:prstGeom>
        </p:spPr>
      </p:pic>
      <p:sp>
        <p:nvSpPr>
          <p:cNvPr id="10" name="Text 6"/>
          <p:cNvSpPr txBox="1"/>
          <p:nvPr/>
        </p:nvSpPr>
        <p:spPr>
          <a:xfrm>
            <a:off x="1645920" y="2788920"/>
            <a:ext cx="9601200" cy="8229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No frameworks or component libraries — everything hand-built</a:t>
            </a:r>
            <a:endParaRPr lang="en-US" sz="1600" dirty="0"/>
          </a:p>
        </p:txBody>
      </p:sp>
      <p:sp>
        <p:nvSpPr>
          <p:cNvPr id="11" name="Shape 7"/>
          <p:cNvSpPr/>
          <p:nvPr/>
        </p:nvSpPr>
        <p:spPr>
          <a:xfrm>
            <a:off x="640080" y="3840480"/>
            <a:ext cx="10881360" cy="822960"/>
          </a:xfrm>
          <a:prstGeom prst="roundRect">
            <a:avLst>
              <a:gd name="adj" fmla="val 11111"/>
            </a:avLst>
          </a:prstGeom>
          <a:solidFill>
            <a:srgbClr val="FFFFFF"/>
          </a:solidFill>
          <a:ln w="12700">
            <a:solidFill>
              <a:srgbClr val="E4E0D4"/>
            </a:solidFill>
            <a:prstDash val="solid"/>
          </a:ln>
        </p:spPr>
      </p:sp>
      <p:sp>
        <p:nvSpPr>
          <p:cNvPr id="12" name="Shape 8"/>
          <p:cNvSpPr/>
          <p:nvPr/>
        </p:nvSpPr>
        <p:spPr>
          <a:xfrm>
            <a:off x="914400" y="4023360"/>
            <a:ext cx="457200" cy="457200"/>
          </a:xfrm>
          <a:prstGeom prst="ellipse">
            <a:avLst/>
          </a:prstGeom>
          <a:solidFill>
            <a:srgbClr val="F7F6F3"/>
          </a:solidFill>
          <a:ln/>
        </p:spPr>
      </p:sp>
      <p:pic>
        <p:nvPicPr>
          <p:cNvPr id="13" name="Image 2" descr="preencoded.png">    </p:cNvPr>
          <p:cNvPicPr>
            <a:picLocks noChangeAspect="1"/>
          </p:cNvPicPr>
          <p:nvPr/>
        </p:nvPicPr>
        <p:blipFill>
          <a:blip r:embed="rId3"/>
          <a:stretch>
            <a:fillRect/>
          </a:stretch>
        </p:blipFill>
        <p:spPr>
          <a:xfrm>
            <a:off x="1033272" y="4142232"/>
            <a:ext cx="219456" cy="219456"/>
          </a:xfrm>
          <a:prstGeom prst="rect">
            <a:avLst/>
          </a:prstGeom>
        </p:spPr>
      </p:pic>
      <p:sp>
        <p:nvSpPr>
          <p:cNvPr id="14" name="Text 9"/>
          <p:cNvSpPr txBox="1"/>
          <p:nvPr/>
        </p:nvSpPr>
        <p:spPr>
          <a:xfrm>
            <a:off x="1645920" y="3840480"/>
            <a:ext cx="9601200" cy="8229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ESLint + Prettier, using the class configuration</a:t>
            </a:r>
            <a:endParaRPr lang="en-US" sz="1600" dirty="0"/>
          </a:p>
        </p:txBody>
      </p:sp>
      <p:sp>
        <p:nvSpPr>
          <p:cNvPr id="15" name="Shape 10"/>
          <p:cNvSpPr/>
          <p:nvPr/>
        </p:nvSpPr>
        <p:spPr>
          <a:xfrm>
            <a:off x="640080" y="4892040"/>
            <a:ext cx="10881360" cy="822960"/>
          </a:xfrm>
          <a:prstGeom prst="roundRect">
            <a:avLst>
              <a:gd name="adj" fmla="val 11111"/>
            </a:avLst>
          </a:prstGeom>
          <a:solidFill>
            <a:srgbClr val="FFFFFF"/>
          </a:solidFill>
          <a:ln w="12700">
            <a:solidFill>
              <a:srgbClr val="E4E0D4"/>
            </a:solidFill>
            <a:prstDash val="solid"/>
          </a:ln>
        </p:spPr>
      </p:sp>
      <p:sp>
        <p:nvSpPr>
          <p:cNvPr id="16" name="Shape 11"/>
          <p:cNvSpPr/>
          <p:nvPr/>
        </p:nvSpPr>
        <p:spPr>
          <a:xfrm>
            <a:off x="914400" y="5074920"/>
            <a:ext cx="457200" cy="457200"/>
          </a:xfrm>
          <a:prstGeom prst="ellipse">
            <a:avLst/>
          </a:prstGeom>
          <a:solidFill>
            <a:srgbClr val="F7F6F3"/>
          </a:solidFill>
          <a:ln/>
        </p:spPr>
      </p:sp>
      <p:pic>
        <p:nvPicPr>
          <p:cNvPr id="17" name="Image 3" descr="preencoded.png">    </p:cNvPr>
          <p:cNvPicPr>
            <a:picLocks noChangeAspect="1"/>
          </p:cNvPicPr>
          <p:nvPr/>
        </p:nvPicPr>
        <p:blipFill>
          <a:blip r:embed="rId4"/>
          <a:stretch>
            <a:fillRect/>
          </a:stretch>
        </p:blipFill>
        <p:spPr>
          <a:xfrm>
            <a:off x="1033272" y="5193792"/>
            <a:ext cx="219456" cy="219456"/>
          </a:xfrm>
          <a:prstGeom prst="rect">
            <a:avLst/>
          </a:prstGeom>
        </p:spPr>
      </p:pic>
      <p:sp>
        <p:nvSpPr>
          <p:cNvPr id="18" name="Text 12"/>
          <p:cNvSpPr txBox="1"/>
          <p:nvPr/>
        </p:nvSpPr>
        <p:spPr>
          <a:xfrm>
            <a:off x="1645920" y="4892040"/>
            <a:ext cx="9601200" cy="8229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Deployed via GitHub Pages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ctr"/>
          <a:lstStyle/>
          <a:p>
            <a:pPr indent="0" marL="0">
              <a:buNone/>
            </a:pPr>
            <a:r>
              <a:rPr lang="en-US" sz="3200" b="1" dirty="0">
                <a:solidFill>
                  <a:srgbClr val="182848"/>
                </a:solidFill>
                <a:latin typeface="Cambria" pitchFamily="34" charset="0"/>
                <a:ea typeface="Cambria" pitchFamily="34" charset="-122"/>
                <a:cs typeface="Cambria" pitchFamily="34" charset="-120"/>
              </a:rPr>
              <a:t>Site structure</a:t>
            </a:r>
            <a:endParaRPr lang="en-US" sz="3200" dirty="0"/>
          </a:p>
        </p:txBody>
      </p:sp>
      <p:sp>
        <p:nvSpPr>
          <p:cNvPr id="3" name="Text 1"/>
          <p:cNvSpPr txBox="1"/>
          <p:nvPr/>
        </p:nvSpPr>
        <p:spPr>
          <a:xfrm>
            <a:off x="548640" y="1143000"/>
            <a:ext cx="7315200" cy="45720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Three pages, one cohesive site</a:t>
            </a:r>
            <a:endParaRPr lang="en-US" sz="1600" dirty="0"/>
          </a:p>
        </p:txBody>
      </p:sp>
      <p:sp>
        <p:nvSpPr>
          <p:cNvPr id="4" name="Shape 2"/>
          <p:cNvSpPr/>
          <p:nvPr/>
        </p:nvSpPr>
        <p:spPr>
          <a:xfrm>
            <a:off x="640080" y="1920240"/>
            <a:ext cx="3383280" cy="3566160"/>
          </a:xfrm>
          <a:prstGeom prst="roundRect">
            <a:avLst>
              <a:gd name="adj" fmla="val 3243"/>
            </a:avLst>
          </a:prstGeom>
          <a:solidFill>
            <a:srgbClr val="FFFFFF"/>
          </a:solidFill>
          <a:ln w="12700">
            <a:solidFill>
              <a:srgbClr val="E4E0D4"/>
            </a:solidFill>
            <a:prstDash val="solid"/>
          </a:ln>
          <a:effectLst>
            <a:outerShdw sx="100000" sy="100000" kx="0" ky="0" algn="bl" rotWithShape="0" blurRad="50800" dist="25400" dir="5400000">
              <a:srgbClr val="000000">
                <a:alpha val="10000"/>
              </a:srgbClr>
            </a:outerShdw>
          </a:effectLst>
        </p:spPr>
      </p:sp>
      <p:sp>
        <p:nvSpPr>
          <p:cNvPr id="5" name="Shape 3"/>
          <p:cNvSpPr/>
          <p:nvPr/>
        </p:nvSpPr>
        <p:spPr>
          <a:xfrm>
            <a:off x="1920240" y="2240280"/>
            <a:ext cx="822960" cy="822960"/>
          </a:xfrm>
          <a:prstGeom prst="ellipse">
            <a:avLst/>
          </a:prstGeom>
          <a:solidFill>
            <a:srgbClr val="F7F6F3"/>
          </a:solidFill>
          <a:ln/>
        </p:spPr>
      </p:sp>
      <p:pic>
        <p:nvPicPr>
          <p:cNvPr id="6" name="Image 0" descr="preencoded.png">    </p:cNvPr>
          <p:cNvPicPr>
            <a:picLocks noChangeAspect="1"/>
          </p:cNvPicPr>
          <p:nvPr/>
        </p:nvPicPr>
        <p:blipFill>
          <a:blip r:embed="rId1"/>
          <a:stretch>
            <a:fillRect/>
          </a:stretch>
        </p:blipFill>
        <p:spPr>
          <a:xfrm>
            <a:off x="2103120" y="2423160"/>
            <a:ext cx="457200" cy="457200"/>
          </a:xfrm>
          <a:prstGeom prst="rect">
            <a:avLst/>
          </a:prstGeom>
        </p:spPr>
      </p:pic>
      <p:sp>
        <p:nvSpPr>
          <p:cNvPr id="7" name="Text 4"/>
          <p:cNvSpPr txBox="1"/>
          <p:nvPr/>
        </p:nvSpPr>
        <p:spPr>
          <a:xfrm>
            <a:off x="640080" y="3246120"/>
            <a:ext cx="3383280" cy="411480"/>
          </a:xfrm>
          <a:prstGeom prst="rect">
            <a:avLst/>
          </a:prstGeom>
          <a:noFill/>
          <a:ln/>
        </p:spPr>
        <p:txBody>
          <a:bodyPr wrap="square" lIns="0" tIns="0" rIns="0" bIns="0" rtlCol="0" anchor="ctr"/>
          <a:lstStyle/>
          <a:p>
            <a:pPr algn="ctr" indent="0" marL="0">
              <a:buNone/>
            </a:pPr>
            <a:r>
              <a:rPr lang="en-US" sz="1800" b="1" dirty="0">
                <a:solidFill>
                  <a:srgbClr val="182848"/>
                </a:solidFill>
                <a:latin typeface="Cambria" pitchFamily="34" charset="0"/>
                <a:ea typeface="Cambria" pitchFamily="34" charset="-122"/>
                <a:cs typeface="Cambria" pitchFamily="34" charset="-120"/>
              </a:rPr>
              <a:t>Homepage</a:t>
            </a:r>
            <a:endParaRPr lang="en-US" sz="1800" dirty="0"/>
          </a:p>
        </p:txBody>
      </p:sp>
      <p:sp>
        <p:nvSpPr>
          <p:cNvPr id="8" name="Text 5"/>
          <p:cNvSpPr txBox="1"/>
          <p:nvPr/>
        </p:nvSpPr>
        <p:spPr>
          <a:xfrm>
            <a:off x="868680" y="3749040"/>
            <a:ext cx="2926080" cy="1463040"/>
          </a:xfrm>
          <a:prstGeom prst="rect">
            <a:avLst/>
          </a:prstGeom>
          <a:noFill/>
          <a:ln/>
        </p:spPr>
        <p:txBody>
          <a:bodyPr wrap="square" lIns="0" tIns="0" rIns="0" bIns="0" rtlCol="0" anchor="t"/>
          <a:lstStyle/>
          <a:p>
            <a:pPr algn="ctr" indent="0" marL="0">
              <a:lnSpc>
                <a:spcPts val="1800"/>
              </a:lnSpc>
              <a:buNone/>
            </a:pPr>
            <a:r>
              <a:rPr lang="en-US" sz="1350" dirty="0">
                <a:solidFill>
                  <a:srgbClr val="444444"/>
                </a:solidFill>
                <a:latin typeface="Calibri" pitchFamily="34" charset="0"/>
                <a:ea typeface="Calibri" pitchFamily="34" charset="-122"/>
                <a:cs typeface="Calibri" pitchFamily="34" charset="-120"/>
              </a:rPr>
              <a:t>Introduction, skills, and the</a:t>
            </a:r>
            <a:endParaRPr lang="en-US" sz="1350" dirty="0"/>
          </a:p>
          <a:p>
            <a:pPr algn="ctr" indent="0" marL="0">
              <a:lnSpc>
                <a:spcPts val="1800"/>
              </a:lnSpc>
              <a:buNone/>
            </a:pPr>
            <a:r>
              <a:rPr lang="en-US" sz="1350" dirty="0">
                <a:solidFill>
                  <a:srgbClr val="444444"/>
                </a:solidFill>
                <a:latin typeface="Calibri" pitchFamily="34" charset="0"/>
                <a:ea typeface="Calibri" pitchFamily="34" charset="-122"/>
                <a:cs typeface="Calibri" pitchFamily="34" charset="-120"/>
              </a:rPr>
              <a:t>interactive shot chart</a:t>
            </a:r>
            <a:endParaRPr lang="en-US" sz="1350" dirty="0"/>
          </a:p>
        </p:txBody>
      </p:sp>
      <p:sp>
        <p:nvSpPr>
          <p:cNvPr id="9" name="Shape 6"/>
          <p:cNvSpPr/>
          <p:nvPr/>
        </p:nvSpPr>
        <p:spPr>
          <a:xfrm>
            <a:off x="4343400" y="1920240"/>
            <a:ext cx="3383280" cy="3566160"/>
          </a:xfrm>
          <a:prstGeom prst="roundRect">
            <a:avLst>
              <a:gd name="adj" fmla="val 3243"/>
            </a:avLst>
          </a:prstGeom>
          <a:solidFill>
            <a:srgbClr val="FFFFFF"/>
          </a:solidFill>
          <a:ln w="12700">
            <a:solidFill>
              <a:srgbClr val="E4E0D4"/>
            </a:solidFill>
            <a:prstDash val="solid"/>
          </a:ln>
          <a:effectLst>
            <a:outerShdw sx="100000" sy="100000" kx="0" ky="0" algn="bl" rotWithShape="0" blurRad="50800" dist="25400" dir="5400000">
              <a:srgbClr val="000000">
                <a:alpha val="10000"/>
              </a:srgbClr>
            </a:outerShdw>
          </a:effectLst>
        </p:spPr>
      </p:sp>
      <p:sp>
        <p:nvSpPr>
          <p:cNvPr id="10" name="Shape 7"/>
          <p:cNvSpPr/>
          <p:nvPr/>
        </p:nvSpPr>
        <p:spPr>
          <a:xfrm>
            <a:off x="5623560" y="2240280"/>
            <a:ext cx="822960" cy="822960"/>
          </a:xfrm>
          <a:prstGeom prst="ellipse">
            <a:avLst/>
          </a:prstGeom>
          <a:solidFill>
            <a:srgbClr val="F7F6F3"/>
          </a:solidFill>
          <a:ln/>
        </p:spPr>
      </p:sp>
      <p:pic>
        <p:nvPicPr>
          <p:cNvPr id="11" name="Image 1" descr="preencoded.png">    </p:cNvPr>
          <p:cNvPicPr>
            <a:picLocks noChangeAspect="1"/>
          </p:cNvPicPr>
          <p:nvPr/>
        </p:nvPicPr>
        <p:blipFill>
          <a:blip r:embed="rId2"/>
          <a:stretch>
            <a:fillRect/>
          </a:stretch>
        </p:blipFill>
        <p:spPr>
          <a:xfrm>
            <a:off x="5806440" y="2423160"/>
            <a:ext cx="457200" cy="457200"/>
          </a:xfrm>
          <a:prstGeom prst="rect">
            <a:avLst/>
          </a:prstGeom>
        </p:spPr>
      </p:pic>
      <p:sp>
        <p:nvSpPr>
          <p:cNvPr id="12" name="Text 8"/>
          <p:cNvSpPr txBox="1"/>
          <p:nvPr/>
        </p:nvSpPr>
        <p:spPr>
          <a:xfrm>
            <a:off x="4343400" y="3246120"/>
            <a:ext cx="3383280" cy="411480"/>
          </a:xfrm>
          <a:prstGeom prst="rect">
            <a:avLst/>
          </a:prstGeom>
          <a:noFill/>
          <a:ln/>
        </p:spPr>
        <p:txBody>
          <a:bodyPr wrap="square" lIns="0" tIns="0" rIns="0" bIns="0" rtlCol="0" anchor="ctr"/>
          <a:lstStyle/>
          <a:p>
            <a:pPr algn="ctr" indent="0" marL="0">
              <a:buNone/>
            </a:pPr>
            <a:r>
              <a:rPr lang="en-US" sz="1800" b="1" dirty="0">
                <a:solidFill>
                  <a:srgbClr val="182848"/>
                </a:solidFill>
                <a:latin typeface="Cambria" pitchFamily="34" charset="0"/>
                <a:ea typeface="Cambria" pitchFamily="34" charset="-122"/>
                <a:cs typeface="Cambria" pitchFamily="34" charset="-120"/>
              </a:rPr>
              <a:t>Projects</a:t>
            </a:r>
            <a:endParaRPr lang="en-US" sz="1800" dirty="0"/>
          </a:p>
        </p:txBody>
      </p:sp>
      <p:sp>
        <p:nvSpPr>
          <p:cNvPr id="13" name="Text 9"/>
          <p:cNvSpPr txBox="1"/>
          <p:nvPr/>
        </p:nvSpPr>
        <p:spPr>
          <a:xfrm>
            <a:off x="4572000" y="3749040"/>
            <a:ext cx="2926080" cy="1463040"/>
          </a:xfrm>
          <a:prstGeom prst="rect">
            <a:avLst/>
          </a:prstGeom>
          <a:noFill/>
          <a:ln/>
        </p:spPr>
        <p:txBody>
          <a:bodyPr wrap="square" lIns="0" tIns="0" rIns="0" bIns="0" rtlCol="0" anchor="t"/>
          <a:lstStyle/>
          <a:p>
            <a:pPr algn="ctr" indent="0" marL="0">
              <a:lnSpc>
                <a:spcPts val="1800"/>
              </a:lnSpc>
              <a:buNone/>
            </a:pPr>
            <a:r>
              <a:rPr lang="en-US" sz="1350" dirty="0">
                <a:solidFill>
                  <a:srgbClr val="444444"/>
                </a:solidFill>
                <a:latin typeface="Calibri" pitchFamily="34" charset="0"/>
                <a:ea typeface="Calibri" pitchFamily="34" charset="-122"/>
                <a:cs typeface="Calibri" pitchFamily="34" charset="-120"/>
              </a:rPr>
              <a:t>Two ML projects and a full</a:t>
            </a:r>
            <a:endParaRPr lang="en-US" sz="1350" dirty="0"/>
          </a:p>
          <a:p>
            <a:pPr algn="ctr" indent="0" marL="0">
              <a:lnSpc>
                <a:spcPts val="1800"/>
              </a:lnSpc>
              <a:buNone/>
            </a:pPr>
            <a:r>
              <a:rPr lang="en-US" sz="1350" dirty="0">
                <a:solidFill>
                  <a:srgbClr val="444444"/>
                </a:solidFill>
                <a:latin typeface="Calibri" pitchFamily="34" charset="0"/>
                <a:ea typeface="Calibri" pitchFamily="34" charset="-122"/>
                <a:cs typeface="Calibri" pitchFamily="34" charset="-120"/>
              </a:rPr>
              <a:t>work experience timeline</a:t>
            </a:r>
            <a:endParaRPr lang="en-US" sz="1350" dirty="0"/>
          </a:p>
        </p:txBody>
      </p:sp>
      <p:sp>
        <p:nvSpPr>
          <p:cNvPr id="14" name="Shape 10"/>
          <p:cNvSpPr/>
          <p:nvPr/>
        </p:nvSpPr>
        <p:spPr>
          <a:xfrm>
            <a:off x="8046720" y="1920240"/>
            <a:ext cx="3383280" cy="3566160"/>
          </a:xfrm>
          <a:prstGeom prst="roundRect">
            <a:avLst>
              <a:gd name="adj" fmla="val 3243"/>
            </a:avLst>
          </a:prstGeom>
          <a:solidFill>
            <a:srgbClr val="FFFFFF"/>
          </a:solidFill>
          <a:ln w="12700">
            <a:solidFill>
              <a:srgbClr val="E4E0D4"/>
            </a:solidFill>
            <a:prstDash val="solid"/>
          </a:ln>
          <a:effectLst>
            <a:outerShdw sx="100000" sy="100000" kx="0" ky="0" algn="bl" rotWithShape="0" blurRad="50800" dist="25400" dir="5400000">
              <a:srgbClr val="000000">
                <a:alpha val="10000"/>
              </a:srgbClr>
            </a:outerShdw>
          </a:effectLst>
        </p:spPr>
      </p:sp>
      <p:sp>
        <p:nvSpPr>
          <p:cNvPr id="15" name="Shape 11"/>
          <p:cNvSpPr/>
          <p:nvPr/>
        </p:nvSpPr>
        <p:spPr>
          <a:xfrm>
            <a:off x="9326880" y="2240280"/>
            <a:ext cx="822960" cy="822960"/>
          </a:xfrm>
          <a:prstGeom prst="ellipse">
            <a:avLst/>
          </a:prstGeom>
          <a:solidFill>
            <a:srgbClr val="F7F6F3"/>
          </a:solidFill>
          <a:ln/>
        </p:spPr>
      </p:sp>
      <p:pic>
        <p:nvPicPr>
          <p:cNvPr id="16" name="Image 2" descr="preencoded.png">    </p:cNvPr>
          <p:cNvPicPr>
            <a:picLocks noChangeAspect="1"/>
          </p:cNvPicPr>
          <p:nvPr/>
        </p:nvPicPr>
        <p:blipFill>
          <a:blip r:embed="rId3"/>
          <a:stretch>
            <a:fillRect/>
          </a:stretch>
        </p:blipFill>
        <p:spPr>
          <a:xfrm>
            <a:off x="9509760" y="2423160"/>
            <a:ext cx="457200" cy="457200"/>
          </a:xfrm>
          <a:prstGeom prst="rect">
            <a:avLst/>
          </a:prstGeom>
        </p:spPr>
      </p:pic>
      <p:sp>
        <p:nvSpPr>
          <p:cNvPr id="17" name="Text 12"/>
          <p:cNvSpPr txBox="1"/>
          <p:nvPr/>
        </p:nvSpPr>
        <p:spPr>
          <a:xfrm>
            <a:off x="8046720" y="3246120"/>
            <a:ext cx="3383280" cy="411480"/>
          </a:xfrm>
          <a:prstGeom prst="rect">
            <a:avLst/>
          </a:prstGeom>
          <a:noFill/>
          <a:ln/>
        </p:spPr>
        <p:txBody>
          <a:bodyPr wrap="square" lIns="0" tIns="0" rIns="0" bIns="0" rtlCol="0" anchor="ctr"/>
          <a:lstStyle/>
          <a:p>
            <a:pPr algn="ctr" indent="0" marL="0">
              <a:buNone/>
            </a:pPr>
            <a:r>
              <a:rPr lang="en-US" sz="1800" b="1" dirty="0">
                <a:solidFill>
                  <a:srgbClr val="182848"/>
                </a:solidFill>
                <a:latin typeface="Cambria" pitchFamily="34" charset="0"/>
                <a:ea typeface="Cambria" pitchFamily="34" charset="-122"/>
                <a:cs typeface="Cambria" pitchFamily="34" charset="-120"/>
              </a:rPr>
              <a:t>Resume by AI</a:t>
            </a:r>
            <a:endParaRPr lang="en-US" sz="1800" dirty="0"/>
          </a:p>
        </p:txBody>
      </p:sp>
      <p:sp>
        <p:nvSpPr>
          <p:cNvPr id="18" name="Text 13"/>
          <p:cNvSpPr txBox="1"/>
          <p:nvPr/>
        </p:nvSpPr>
        <p:spPr>
          <a:xfrm>
            <a:off x="8275320" y="3749040"/>
            <a:ext cx="2926080" cy="1463040"/>
          </a:xfrm>
          <a:prstGeom prst="rect">
            <a:avLst/>
          </a:prstGeom>
          <a:noFill/>
          <a:ln/>
        </p:spPr>
        <p:txBody>
          <a:bodyPr wrap="square" lIns="0" tIns="0" rIns="0" bIns="0" rtlCol="0" anchor="t"/>
          <a:lstStyle/>
          <a:p>
            <a:pPr algn="ctr" indent="0" marL="0">
              <a:lnSpc>
                <a:spcPts val="1800"/>
              </a:lnSpc>
              <a:buNone/>
            </a:pPr>
            <a:r>
              <a:rPr lang="en-US" sz="1350" dirty="0">
                <a:solidFill>
                  <a:srgbClr val="444444"/>
                </a:solidFill>
                <a:latin typeface="Calibri" pitchFamily="34" charset="0"/>
                <a:ea typeface="Calibri" pitchFamily="34" charset="-122"/>
                <a:cs typeface="Calibri" pitchFamily="34" charset="-120"/>
              </a:rPr>
              <a:t>Fully AI-generated page,</a:t>
            </a:r>
            <a:endParaRPr lang="en-US" sz="1350" dirty="0"/>
          </a:p>
          <a:p>
            <a:pPr algn="ctr" indent="0" marL="0">
              <a:lnSpc>
                <a:spcPts val="1800"/>
              </a:lnSpc>
              <a:buNone/>
            </a:pPr>
            <a:r>
              <a:rPr lang="en-US" sz="1350" dirty="0">
                <a:solidFill>
                  <a:srgbClr val="444444"/>
                </a:solidFill>
                <a:latin typeface="Calibri" pitchFamily="34" charset="0"/>
                <a:ea typeface="Calibri" pitchFamily="34" charset="-122"/>
                <a:cs typeface="Calibri" pitchFamily="34" charset="-120"/>
              </a:rPr>
              <a:t>matched to the site's style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2848"/>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Creative addition</a:t>
            </a:r>
            <a:endParaRPr lang="en-US" sz="3200" dirty="0"/>
          </a:p>
        </p:txBody>
      </p:sp>
      <p:sp>
        <p:nvSpPr>
          <p:cNvPr id="3" name="Text 1"/>
          <p:cNvSpPr txBox="1"/>
          <p:nvPr/>
        </p:nvSpPr>
        <p:spPr>
          <a:xfrm>
            <a:off x="548640" y="1143000"/>
            <a:ext cx="7315200" cy="457200"/>
          </a:xfrm>
          <a:prstGeom prst="rect">
            <a:avLst/>
          </a:prstGeom>
          <a:noFill/>
          <a:ln/>
        </p:spPr>
        <p:txBody>
          <a:bodyPr wrap="square" lIns="0" tIns="0" rIns="0" bIns="0" rtlCol="0" anchor="ctr"/>
          <a:lstStyle/>
          <a:p>
            <a:pPr indent="0" marL="0">
              <a:buNone/>
            </a:pPr>
            <a:r>
              <a:rPr lang="en-US" sz="1800" dirty="0">
                <a:solidFill>
                  <a:srgbClr val="D35400"/>
                </a:solidFill>
                <a:latin typeface="Calibri" pitchFamily="34" charset="0"/>
                <a:ea typeface="Calibri" pitchFamily="34" charset="-122"/>
                <a:cs typeface="Calibri" pitchFamily="34" charset="-120"/>
              </a:rPr>
              <a:t>Interactive basketball shot chart</a:t>
            </a:r>
            <a:endParaRPr lang="en-US" sz="1800" dirty="0"/>
          </a:p>
        </p:txBody>
      </p:sp>
      <p:sp>
        <p:nvSpPr>
          <p:cNvPr id="4" name="Text 2"/>
          <p:cNvSpPr txBox="1"/>
          <p:nvPr/>
        </p:nvSpPr>
        <p:spPr>
          <a:xfrm>
            <a:off x="640080" y="2103120"/>
            <a:ext cx="365760" cy="548640"/>
          </a:xfrm>
          <a:prstGeom prst="rect">
            <a:avLst/>
          </a:prstGeom>
          <a:noFill/>
          <a:ln/>
        </p:spPr>
        <p:txBody>
          <a:bodyPr wrap="square" lIns="0" tIns="0" rIns="0" bIns="0" rtlCol="0" anchor="ctr"/>
          <a:lstStyle/>
          <a:p>
            <a:pPr indent="0" marL="0">
              <a:buNone/>
            </a:pPr>
            <a:r>
              <a:rPr lang="en-US" sz="2000" dirty="0">
                <a:solidFill>
                  <a:srgbClr val="D35400"/>
                </a:solidFill>
                <a:latin typeface="Calibri" pitchFamily="34" charset="0"/>
                <a:ea typeface="Calibri" pitchFamily="34" charset="-122"/>
                <a:cs typeface="Calibri" pitchFamily="34" charset="-120"/>
              </a:rPr>
              <a:t>•</a:t>
            </a:r>
            <a:endParaRPr lang="en-US" sz="2000" dirty="0"/>
          </a:p>
        </p:txBody>
      </p:sp>
      <p:sp>
        <p:nvSpPr>
          <p:cNvPr id="5" name="Text 3"/>
          <p:cNvSpPr txBox="1"/>
          <p:nvPr/>
        </p:nvSpPr>
        <p:spPr>
          <a:xfrm>
            <a:off x="1005840" y="2103120"/>
            <a:ext cx="512064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SVG half-court — click anywhere to take a shot</a:t>
            </a:r>
            <a:endParaRPr lang="en-US" sz="1600" dirty="0"/>
          </a:p>
        </p:txBody>
      </p:sp>
      <p:sp>
        <p:nvSpPr>
          <p:cNvPr id="6" name="Text 4"/>
          <p:cNvSpPr txBox="1"/>
          <p:nvPr/>
        </p:nvSpPr>
        <p:spPr>
          <a:xfrm>
            <a:off x="640080" y="2880360"/>
            <a:ext cx="365760" cy="548640"/>
          </a:xfrm>
          <a:prstGeom prst="rect">
            <a:avLst/>
          </a:prstGeom>
          <a:noFill/>
          <a:ln/>
        </p:spPr>
        <p:txBody>
          <a:bodyPr wrap="square" lIns="0" tIns="0" rIns="0" bIns="0" rtlCol="0" anchor="ctr"/>
          <a:lstStyle/>
          <a:p>
            <a:pPr indent="0" marL="0">
              <a:buNone/>
            </a:pPr>
            <a:r>
              <a:rPr lang="en-US" sz="2000" dirty="0">
                <a:solidFill>
                  <a:srgbClr val="D35400"/>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005840" y="2880360"/>
            <a:ext cx="512064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Make/miss odds weighted by real shooting-percentage zones</a:t>
            </a:r>
            <a:endParaRPr lang="en-US" sz="1600" dirty="0"/>
          </a:p>
        </p:txBody>
      </p:sp>
      <p:sp>
        <p:nvSpPr>
          <p:cNvPr id="8" name="Text 6"/>
          <p:cNvSpPr txBox="1"/>
          <p:nvPr/>
        </p:nvSpPr>
        <p:spPr>
          <a:xfrm>
            <a:off x="640080" y="3657600"/>
            <a:ext cx="365760" cy="548640"/>
          </a:xfrm>
          <a:prstGeom prst="rect">
            <a:avLst/>
          </a:prstGeom>
          <a:noFill/>
          <a:ln/>
        </p:spPr>
        <p:txBody>
          <a:bodyPr wrap="square" lIns="0" tIns="0" rIns="0" bIns="0" rtlCol="0" anchor="ctr"/>
          <a:lstStyle/>
          <a:p>
            <a:pPr indent="0" marL="0">
              <a:buNone/>
            </a:pPr>
            <a:r>
              <a:rPr lang="en-US" sz="2000" dirty="0">
                <a:solidFill>
                  <a:srgbClr val="D35400"/>
                </a:solidFill>
                <a:latin typeface="Calibri" pitchFamily="34" charset="0"/>
                <a:ea typeface="Calibri" pitchFamily="34" charset="-122"/>
                <a:cs typeface="Calibri" pitchFamily="34" charset="-120"/>
              </a:rPr>
              <a:t>•</a:t>
            </a:r>
            <a:endParaRPr lang="en-US" sz="2000" dirty="0"/>
          </a:p>
        </p:txBody>
      </p:sp>
      <p:sp>
        <p:nvSpPr>
          <p:cNvPr id="9" name="Text 7"/>
          <p:cNvSpPr txBox="1"/>
          <p:nvPr/>
        </p:nvSpPr>
        <p:spPr>
          <a:xfrm>
            <a:off x="1005840" y="3657600"/>
            <a:ext cx="512064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Live stats bar tracks shots, makes, and FG%</a:t>
            </a:r>
            <a:endParaRPr lang="en-US" sz="1600" dirty="0"/>
          </a:p>
        </p:txBody>
      </p:sp>
      <p:sp>
        <p:nvSpPr>
          <p:cNvPr id="10" name="Shape 8"/>
          <p:cNvSpPr/>
          <p:nvPr/>
        </p:nvSpPr>
        <p:spPr>
          <a:xfrm>
            <a:off x="9052560" y="1737360"/>
            <a:ext cx="2560320" cy="4023360"/>
          </a:xfrm>
          <a:prstGeom prst="roundRect">
            <a:avLst>
              <a:gd name="adj" fmla="val 2857"/>
            </a:avLst>
          </a:prstGeom>
          <a:solidFill>
            <a:srgbClr val="E8C39E"/>
          </a:solidFill>
          <a:ln w="25400">
            <a:solidFill>
              <a:srgbClr val="FFFFFF"/>
            </a:solidFill>
            <a:prstDash val="solid"/>
          </a:ln>
        </p:spPr>
      </p:sp>
      <p:sp>
        <p:nvSpPr>
          <p:cNvPr id="11" name="Shape 9"/>
          <p:cNvSpPr/>
          <p:nvPr/>
        </p:nvSpPr>
        <p:spPr>
          <a:xfrm>
            <a:off x="9738360" y="1737360"/>
            <a:ext cx="1188720" cy="1463040"/>
          </a:xfrm>
          <a:prstGeom prst="rect">
            <a:avLst/>
          </a:prstGeom>
          <a:ln w="19050">
            <a:solidFill>
              <a:srgbClr val="333333"/>
            </a:solidFill>
            <a:prstDash val="solid"/>
          </a:ln>
        </p:spPr>
      </p:sp>
      <p:sp>
        <p:nvSpPr>
          <p:cNvPr id="12" name="Shape 10"/>
          <p:cNvSpPr/>
          <p:nvPr/>
        </p:nvSpPr>
        <p:spPr>
          <a:xfrm>
            <a:off x="9829800" y="2697480"/>
            <a:ext cx="1005840" cy="1005840"/>
          </a:xfrm>
          <a:prstGeom prst="ellipse">
            <a:avLst/>
          </a:prstGeom>
          <a:ln w="19050">
            <a:solidFill>
              <a:srgbClr val="333333"/>
            </a:solidFill>
            <a:prstDash val="solid"/>
          </a:ln>
        </p:spPr>
      </p:sp>
      <p:sp>
        <p:nvSpPr>
          <p:cNvPr id="13" name="Shape 11"/>
          <p:cNvSpPr/>
          <p:nvPr/>
        </p:nvSpPr>
        <p:spPr>
          <a:xfrm>
            <a:off x="10259568" y="2880360"/>
            <a:ext cx="146304" cy="146304"/>
          </a:xfrm>
          <a:prstGeom prst="ellipse">
            <a:avLst/>
          </a:prstGeom>
          <a:ln w="19050">
            <a:solidFill>
              <a:srgbClr val="333333"/>
            </a:solidFill>
            <a:prstDash val="solid"/>
          </a:ln>
        </p:spPr>
      </p:sp>
      <p:sp>
        <p:nvSpPr>
          <p:cNvPr id="14" name="Shape 12"/>
          <p:cNvSpPr/>
          <p:nvPr/>
        </p:nvSpPr>
        <p:spPr>
          <a:xfrm>
            <a:off x="9509760" y="2468880"/>
            <a:ext cx="164592" cy="164592"/>
          </a:xfrm>
          <a:prstGeom prst="ellipse">
            <a:avLst/>
          </a:prstGeom>
          <a:solidFill>
            <a:srgbClr val="2ECC71"/>
          </a:solidFill>
          <a:ln/>
        </p:spPr>
      </p:sp>
      <p:sp>
        <p:nvSpPr>
          <p:cNvPr id="15" name="Shape 13"/>
          <p:cNvSpPr/>
          <p:nvPr/>
        </p:nvSpPr>
        <p:spPr>
          <a:xfrm>
            <a:off x="10972800" y="3108960"/>
            <a:ext cx="164592" cy="164592"/>
          </a:xfrm>
          <a:prstGeom prst="ellipse">
            <a:avLst/>
          </a:prstGeom>
          <a:solidFill>
            <a:srgbClr val="E74C3C"/>
          </a:solidFill>
          <a:ln/>
        </p:spPr>
      </p:sp>
      <p:sp>
        <p:nvSpPr>
          <p:cNvPr id="16" name="Shape 14"/>
          <p:cNvSpPr/>
          <p:nvPr/>
        </p:nvSpPr>
        <p:spPr>
          <a:xfrm>
            <a:off x="10424160" y="4114800"/>
            <a:ext cx="164592" cy="164592"/>
          </a:xfrm>
          <a:prstGeom prst="ellipse">
            <a:avLst/>
          </a:prstGeom>
          <a:solidFill>
            <a:srgbClr val="2ECC71"/>
          </a:solidFill>
          <a:ln/>
        </p:spPr>
      </p:sp>
      <p:sp>
        <p:nvSpPr>
          <p:cNvPr id="17" name="Shape 15"/>
          <p:cNvSpPr/>
          <p:nvPr/>
        </p:nvSpPr>
        <p:spPr>
          <a:xfrm>
            <a:off x="9784080" y="4663440"/>
            <a:ext cx="164592" cy="164592"/>
          </a:xfrm>
          <a:prstGeom prst="ellipse">
            <a:avLst/>
          </a:prstGeom>
          <a:solidFill>
            <a:srgbClr val="2ECC71"/>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3"/>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731520"/>
          </a:xfrm>
          <a:prstGeom prst="rect">
            <a:avLst/>
          </a:prstGeom>
          <a:noFill/>
          <a:ln/>
        </p:spPr>
        <p:txBody>
          <a:bodyPr wrap="square" lIns="0" tIns="0" rIns="0" bIns="0" rtlCol="0" anchor="ctr"/>
          <a:lstStyle/>
          <a:p>
            <a:pPr indent="0" marL="0">
              <a:buNone/>
            </a:pPr>
            <a:r>
              <a:rPr lang="en-US" sz="3000" b="1" dirty="0">
                <a:solidFill>
                  <a:srgbClr val="182848"/>
                </a:solidFill>
                <a:latin typeface="Cambria" pitchFamily="34" charset="0"/>
                <a:ea typeface="Cambria" pitchFamily="34" charset="-122"/>
                <a:cs typeface="Cambria" pitchFamily="34" charset="-120"/>
              </a:rPr>
              <a:t>The hardest technical problem</a:t>
            </a:r>
            <a:endParaRPr lang="en-US" sz="3000" dirty="0"/>
          </a:p>
        </p:txBody>
      </p:sp>
      <p:sp>
        <p:nvSpPr>
          <p:cNvPr id="3" name="Text 1"/>
          <p:cNvSpPr txBox="1"/>
          <p:nvPr/>
        </p:nvSpPr>
        <p:spPr>
          <a:xfrm>
            <a:off x="548640" y="1143000"/>
            <a:ext cx="9144000" cy="457200"/>
          </a:xfrm>
          <a:prstGeom prst="rect">
            <a:avLst/>
          </a:prstGeom>
          <a:noFill/>
          <a:ln/>
        </p:spPr>
        <p:txBody>
          <a:bodyPr wrap="square" lIns="0" tIns="0" rIns="0" bIns="0" rtlCol="0" anchor="ctr"/>
          <a:lstStyle/>
          <a:p>
            <a:pPr indent="0" marL="0">
              <a:buNone/>
            </a:pPr>
            <a:r>
              <a:rPr lang="en-US" sz="1800" dirty="0">
                <a:solidFill>
                  <a:srgbClr val="D35400"/>
                </a:solidFill>
                <a:latin typeface="Calibri" pitchFamily="34" charset="0"/>
                <a:ea typeface="Calibri" pitchFamily="34" charset="-122"/>
                <a:cs typeface="Calibri" pitchFamily="34" charset="-120"/>
              </a:rPr>
              <a:t>Getting the SVG click-coordinate math right</a:t>
            </a:r>
            <a:endParaRPr lang="en-US" sz="1800" dirty="0"/>
          </a:p>
        </p:txBody>
      </p:sp>
      <p:pic>
        <p:nvPicPr>
          <p:cNvPr id="4" name="Image 0" descr="preencoded.png">    </p:cNvPr>
          <p:cNvPicPr>
            <a:picLocks noChangeAspect="1"/>
          </p:cNvPicPr>
          <p:nvPr/>
        </p:nvPicPr>
        <p:blipFill>
          <a:blip r:embed="rId1"/>
          <a:stretch>
            <a:fillRect/>
          </a:stretch>
        </p:blipFill>
        <p:spPr>
          <a:xfrm>
            <a:off x="640080" y="2011680"/>
            <a:ext cx="731520" cy="731520"/>
          </a:xfrm>
          <a:prstGeom prst="rect">
            <a:avLst/>
          </a:prstGeom>
        </p:spPr>
      </p:pic>
      <p:sp>
        <p:nvSpPr>
          <p:cNvPr id="5" name="Text 2"/>
          <p:cNvSpPr txBox="1"/>
          <p:nvPr/>
        </p:nvSpPr>
        <p:spPr>
          <a:xfrm>
            <a:off x="1554480" y="1965960"/>
            <a:ext cx="6035040" cy="182880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Calibri" pitchFamily="34" charset="0"/>
                <a:ea typeface="Calibri" pitchFamily="34" charset="-122"/>
                <a:cs typeface="Calibri" pitchFamily="34" charset="-120"/>
              </a:rPr>
              <a:t>The court's internal coordinate system is fixed at 500×470, but the browser renders it at whatever size fits the screen. Every click has to be converted from screen pixels into that internal coordinate space before distance from the hoop can even be calculated.</a:t>
            </a:r>
            <a:endParaRPr lang="en-US" sz="1500" dirty="0"/>
          </a:p>
        </p:txBody>
      </p:sp>
      <p:sp>
        <p:nvSpPr>
          <p:cNvPr id="6" name="Shape 3"/>
          <p:cNvSpPr/>
          <p:nvPr/>
        </p:nvSpPr>
        <p:spPr>
          <a:xfrm>
            <a:off x="640080" y="4114800"/>
            <a:ext cx="6949440" cy="1737360"/>
          </a:xfrm>
          <a:prstGeom prst="roundRect">
            <a:avLst>
              <a:gd name="adj" fmla="val 5263"/>
            </a:avLst>
          </a:prstGeom>
          <a:solidFill>
            <a:srgbClr val="182848"/>
          </a:solidFill>
          <a:ln/>
        </p:spPr>
      </p:sp>
      <p:sp>
        <p:nvSpPr>
          <p:cNvPr id="7" name="Text 4"/>
          <p:cNvSpPr txBox="1"/>
          <p:nvPr/>
        </p:nvSpPr>
        <p:spPr>
          <a:xfrm>
            <a:off x="914400" y="4343400"/>
            <a:ext cx="6400800" cy="548640"/>
          </a:xfrm>
          <a:prstGeom prst="rect">
            <a:avLst/>
          </a:prstGeom>
          <a:noFill/>
          <a:ln/>
        </p:spPr>
        <p:txBody>
          <a:bodyPr wrap="square" lIns="0" tIns="0" rIns="0" bIns="0" rtlCol="0" anchor="ctr"/>
          <a:lstStyle/>
          <a:p>
            <a:pPr indent="0" marL="0">
              <a:buNone/>
            </a:pPr>
            <a:r>
              <a:rPr lang="en-US" sz="1800" dirty="0">
                <a:solidFill>
                  <a:srgbClr val="D35400"/>
                </a:solidFill>
                <a:latin typeface="Courier New" pitchFamily="34" charset="0"/>
                <a:ea typeface="Courier New" pitchFamily="34" charset="-122"/>
                <a:cs typeface="Courier New" pitchFamily="34" charset="-120"/>
              </a:rPr>
              <a:t>distance = √((x − hoopX)² + (y − hoopY)²)</a:t>
            </a:r>
            <a:endParaRPr lang="en-US" sz="1800" dirty="0"/>
          </a:p>
        </p:txBody>
      </p:sp>
      <p:sp>
        <p:nvSpPr>
          <p:cNvPr id="8" name="Text 5"/>
          <p:cNvSpPr txBox="1"/>
          <p:nvPr/>
        </p:nvSpPr>
        <p:spPr>
          <a:xfrm>
            <a:off x="914400" y="4937760"/>
            <a:ext cx="640080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Closer shots → higher make chance, matching real shooting zones.</a:t>
            </a:r>
            <a:endParaRPr lang="en-US" sz="1400" dirty="0"/>
          </a:p>
        </p:txBody>
      </p:sp>
      <p:sp>
        <p:nvSpPr>
          <p:cNvPr id="9" name="Shape 6"/>
          <p:cNvSpPr/>
          <p:nvPr/>
        </p:nvSpPr>
        <p:spPr>
          <a:xfrm>
            <a:off x="7955280" y="2011680"/>
            <a:ext cx="3657600" cy="3840480"/>
          </a:xfrm>
          <a:prstGeom prst="roundRect">
            <a:avLst>
              <a:gd name="adj" fmla="val 3000"/>
            </a:avLst>
          </a:prstGeom>
          <a:solidFill>
            <a:srgbClr val="FFFFFF"/>
          </a:solidFill>
          <a:ln w="12700">
            <a:solidFill>
              <a:srgbClr val="E4E0D4"/>
            </a:solidFill>
            <a:prstDash val="solid"/>
          </a:ln>
        </p:spPr>
      </p:sp>
      <p:pic>
        <p:nvPicPr>
          <p:cNvPr id="10" name="Image 1" descr="preencoded.png">    </p:cNvPr>
          <p:cNvPicPr>
            <a:picLocks noChangeAspect="1"/>
          </p:cNvPicPr>
          <p:nvPr/>
        </p:nvPicPr>
        <p:blipFill>
          <a:blip r:embed="rId2"/>
          <a:stretch>
            <a:fillRect/>
          </a:stretch>
        </p:blipFill>
        <p:spPr>
          <a:xfrm>
            <a:off x="9509760" y="2377440"/>
            <a:ext cx="822960" cy="822960"/>
          </a:xfrm>
          <a:prstGeom prst="rect">
            <a:avLst/>
          </a:prstGeom>
        </p:spPr>
      </p:pic>
      <p:sp>
        <p:nvSpPr>
          <p:cNvPr id="11" name="Text 7"/>
          <p:cNvSpPr txBox="1"/>
          <p:nvPr/>
        </p:nvSpPr>
        <p:spPr>
          <a:xfrm>
            <a:off x="8229600" y="3383280"/>
            <a:ext cx="3108960" cy="2194560"/>
          </a:xfrm>
          <a:prstGeom prst="rect">
            <a:avLst/>
          </a:prstGeom>
          <a:noFill/>
          <a:ln/>
        </p:spPr>
        <p:txBody>
          <a:bodyPr wrap="square" lIns="0" tIns="0" rIns="0" bIns="0" rtlCol="0" anchor="t"/>
          <a:lstStyle/>
          <a:p>
            <a:pPr algn="ctr" indent="0" marL="0">
              <a:lnSpc>
                <a:spcPts val="2000"/>
              </a:lnSpc>
              <a:buNone/>
            </a:pPr>
            <a:r>
              <a:rPr lang="en-US" sz="1400" dirty="0">
                <a:solidFill>
                  <a:srgbClr val="333333"/>
                </a:solidFill>
                <a:latin typeface="Calibri" pitchFamily="34" charset="0"/>
                <a:ea typeface="Calibri" pitchFamily="34" charset="-122"/>
                <a:cs typeface="Calibri" pitchFamily="34" charset="-120"/>
              </a:rPr>
              <a:t>Once the scaling factor was right, drawing markers and updating stats followed naturally.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284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731520" cy="731520"/>
          </a:xfrm>
          <a:prstGeom prst="rect">
            <a:avLst/>
          </a:prstGeom>
        </p:spPr>
      </p:pic>
      <p:sp>
        <p:nvSpPr>
          <p:cNvPr id="3" name="Text 0"/>
          <p:cNvSpPr txBox="1"/>
          <p:nvPr/>
        </p:nvSpPr>
        <p:spPr>
          <a:xfrm>
            <a:off x="1554480" y="548640"/>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Use of GenAI</a:t>
            </a:r>
            <a:endParaRPr lang="en-US" sz="3200" dirty="0"/>
          </a:p>
        </p:txBody>
      </p:sp>
      <p:sp>
        <p:nvSpPr>
          <p:cNvPr id="4" name="Shape 1"/>
          <p:cNvSpPr/>
          <p:nvPr/>
        </p:nvSpPr>
        <p:spPr>
          <a:xfrm>
            <a:off x="640080" y="1920240"/>
            <a:ext cx="10881360" cy="2926080"/>
          </a:xfrm>
          <a:prstGeom prst="roundRect">
            <a:avLst>
              <a:gd name="adj" fmla="val 3750"/>
            </a:avLst>
          </a:prstGeom>
          <a:solidFill>
            <a:srgbClr val="24365C"/>
          </a:solidFill>
          <a:ln/>
        </p:spPr>
      </p:sp>
      <p:sp>
        <p:nvSpPr>
          <p:cNvPr id="5" name="Text 2"/>
          <p:cNvSpPr txBox="1"/>
          <p:nvPr/>
        </p:nvSpPr>
        <p:spPr>
          <a:xfrm>
            <a:off x="1005840" y="2286000"/>
            <a:ext cx="10149840" cy="1005840"/>
          </a:xfrm>
          <a:prstGeom prst="rect">
            <a:avLst/>
          </a:prstGeom>
          <a:noFill/>
          <a:ln/>
        </p:spPr>
        <p:txBody>
          <a:bodyPr wrap="square" lIns="0" tIns="0" rIns="0" bIns="0" rtlCol="0" anchor="t"/>
          <a:lstStyle/>
          <a:p>
            <a:pPr indent="0" marL="0">
              <a:lnSpc>
                <a:spcPts val="2800"/>
              </a:lnSpc>
              <a:buNone/>
            </a:pPr>
            <a:r>
              <a:rPr lang="en-US" sz="2000" dirty="0">
                <a:solidFill>
                  <a:srgbClr val="FFFFFF"/>
                </a:solidFill>
                <a:latin typeface="Calibri" pitchFamily="34" charset="0"/>
                <a:ea typeface="Calibri" pitchFamily="34" charset="-122"/>
                <a:cs typeface="Calibri" pitchFamily="34" charset="-120"/>
              </a:rPr>
              <a:t>Claude was used throughout — for guidance on the hand-built pages, and to fully generate the third page, following a plan-first, iterative process.</a:t>
            </a:r>
            <a:endParaRPr lang="en-US" sz="2000" dirty="0"/>
          </a:p>
        </p:txBody>
      </p:sp>
      <p:sp>
        <p:nvSpPr>
          <p:cNvPr id="6" name="Text 3"/>
          <p:cNvSpPr txBox="1"/>
          <p:nvPr/>
        </p:nvSpPr>
        <p:spPr>
          <a:xfrm>
            <a:off x="1005840" y="3566160"/>
            <a:ext cx="10149840" cy="548640"/>
          </a:xfrm>
          <a:prstGeom prst="rect">
            <a:avLst/>
          </a:prstGeom>
          <a:noFill/>
          <a:ln/>
        </p:spPr>
        <p:txBody>
          <a:bodyPr wrap="square" lIns="0" tIns="0" rIns="0" bIns="0" rtlCol="0" anchor="ctr"/>
          <a:lstStyle/>
          <a:p>
            <a:pPr indent="0" marL="0">
              <a:buNone/>
            </a:pPr>
            <a:r>
              <a:rPr lang="en-US" sz="1600" dirty="0">
                <a:solidFill>
                  <a:srgbClr val="D35400"/>
                </a:solidFill>
                <a:latin typeface="Calibri" pitchFamily="34" charset="0"/>
                <a:ea typeface="Calibri" pitchFamily="34" charset="-122"/>
                <a:cs typeface="Calibri" pitchFamily="34" charset="-120"/>
              </a:rPr>
              <a:t>Full prompt history is documented in the README.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82848"/>
        </a:solidFill>
      </p:bgPr>
    </p:bg>
    <p:spTree>
      <p:nvGrpSpPr>
        <p:cNvPr id="1" name=""/>
        <p:cNvGrpSpPr/>
        <p:nvPr/>
      </p:nvGrpSpPr>
      <p:grpSpPr>
        <a:xfrm>
          <a:off x="0" y="0"/>
          <a:ext cx="0" cy="0"/>
          <a:chOff x="0" y="0"/>
          <a:chExt cx="0" cy="0"/>
        </a:xfrm>
      </p:grpSpPr>
      <p:sp>
        <p:nvSpPr>
          <p:cNvPr id="2" name="Text 0"/>
          <p:cNvSpPr txBox="1"/>
          <p:nvPr/>
        </p:nvSpPr>
        <p:spPr>
          <a:xfrm>
            <a:off x="640080" y="1828800"/>
            <a:ext cx="91440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640080" y="2697480"/>
            <a:ext cx="91440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Now let's look at the site itself.</a:t>
            </a:r>
            <a:endParaRPr lang="en-US" sz="1800" dirty="0"/>
          </a:p>
        </p:txBody>
      </p:sp>
      <p:pic>
        <p:nvPicPr>
          <p:cNvPr id="4" name="Image 0" descr="preencoded.png">    </p:cNvPr>
          <p:cNvPicPr>
            <a:picLocks noChangeAspect="1"/>
          </p:cNvPicPr>
          <p:nvPr/>
        </p:nvPicPr>
        <p:blipFill>
          <a:blip r:embed="rId1"/>
          <a:stretch>
            <a:fillRect/>
          </a:stretch>
        </p:blipFill>
        <p:spPr>
          <a:xfrm>
            <a:off x="640080" y="3749040"/>
            <a:ext cx="320040" cy="320040"/>
          </a:xfrm>
          <a:prstGeom prst="rect">
            <a:avLst/>
          </a:prstGeom>
        </p:spPr>
      </p:pic>
      <p:sp>
        <p:nvSpPr>
          <p:cNvPr id="5" name="Text 2"/>
          <p:cNvSpPr txBox="1"/>
          <p:nvPr/>
        </p:nvSpPr>
        <p:spPr>
          <a:xfrm>
            <a:off x="1143000" y="3675888"/>
            <a:ext cx="54864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desai.r1@northeastern.edu</a:t>
            </a:r>
            <a:endParaRPr lang="en-US" sz="1500" dirty="0"/>
          </a:p>
        </p:txBody>
      </p:sp>
      <p:pic>
        <p:nvPicPr>
          <p:cNvPr id="6" name="Image 1" descr="preencoded.png">    </p:cNvPr>
          <p:cNvPicPr>
            <a:picLocks noChangeAspect="1"/>
          </p:cNvPicPr>
          <p:nvPr/>
        </p:nvPicPr>
        <p:blipFill>
          <a:blip r:embed="rId2"/>
          <a:stretch>
            <a:fillRect/>
          </a:stretch>
        </p:blipFill>
        <p:spPr>
          <a:xfrm>
            <a:off x="640080" y="4343400"/>
            <a:ext cx="320040" cy="320040"/>
          </a:xfrm>
          <a:prstGeom prst="rect">
            <a:avLst/>
          </a:prstGeom>
        </p:spPr>
      </p:pic>
      <p:sp>
        <p:nvSpPr>
          <p:cNvPr id="7" name="Text 3"/>
          <p:cNvSpPr txBox="1"/>
          <p:nvPr/>
        </p:nvSpPr>
        <p:spPr>
          <a:xfrm>
            <a:off x="1143000" y="4270248"/>
            <a:ext cx="54864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linkedin.com/in/desairajvi54</a:t>
            </a:r>
            <a:endParaRPr lang="en-US" sz="1500" dirty="0"/>
          </a:p>
        </p:txBody>
      </p:sp>
      <p:pic>
        <p:nvPicPr>
          <p:cNvPr id="8" name="Image 2" descr="preencoded.png">    </p:cNvPr>
          <p:cNvPicPr>
            <a:picLocks noChangeAspect="1"/>
          </p:cNvPicPr>
          <p:nvPr/>
        </p:nvPicPr>
        <p:blipFill>
          <a:blip r:embed="rId3"/>
          <a:stretch>
            <a:fillRect/>
          </a:stretch>
        </p:blipFill>
        <p:spPr>
          <a:xfrm>
            <a:off x="640080" y="4937760"/>
            <a:ext cx="320040" cy="320040"/>
          </a:xfrm>
          <a:prstGeom prst="rect">
            <a:avLst/>
          </a:prstGeom>
        </p:spPr>
      </p:pic>
      <p:sp>
        <p:nvSpPr>
          <p:cNvPr id="9" name="Text 4"/>
          <p:cNvSpPr txBox="1"/>
          <p:nvPr/>
        </p:nvSpPr>
        <p:spPr>
          <a:xfrm>
            <a:off x="1143000" y="4864608"/>
            <a:ext cx="54864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github.com/desairajviii</a:t>
            </a:r>
            <a:endParaRPr lang="en-US" sz="1500" dirty="0"/>
          </a:p>
        </p:txBody>
      </p:sp>
      <p:sp>
        <p:nvSpPr>
          <p:cNvPr id="10" name="Text 5"/>
          <p:cNvSpPr txBox="1"/>
          <p:nvPr/>
        </p:nvSpPr>
        <p:spPr>
          <a:xfrm>
            <a:off x="640080" y="5760720"/>
            <a:ext cx="731520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Live site: desairajviii.github.io/Rajvi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2026-09-27T01:09:57Z</dcterms:created>
  <dcterms:modified xsi:type="dcterms:W3CDTF">2026-09-27T01:09:57Z</dcterms:modified>
</cp:coreProperties>
</file>